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060F21-8438-D3D4-C303-EA99FFF119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998CD2-F97B-76B2-E5A4-BBE7C08B1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D20E23-8E9A-67A2-588B-62BF6551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BF1CC9-9A0F-021B-1A0D-5CD6532D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C1798E-87A3-80E2-E385-0EC757781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693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38D493-5A91-56CF-EE8C-2FAA7AB3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2927C6-3BF0-1471-86F2-51BFBEBC4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C84873-11D0-D198-E995-BA2AF636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2CD0F5-CF1F-43AA-8FA8-D3DB03D58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67A13B-D06A-864C-848E-77BEC3253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327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930B30-E2F8-7014-C194-573F4E67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CFA210-E9B7-C5C7-ECB6-EE9FC9BF8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C1B34AB-8E91-3353-E865-0BFBA3B29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124480-1420-00D7-DE9E-B61F170A6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BD08A3-9730-61E4-3B4D-237FAC6B4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309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A30EBB-5897-C9D6-3D23-9436F83B7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F61D33-BDA0-5662-6AD5-CF010B8314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8C98AF-F8C9-1A4E-1203-042D6DB45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F252FC-CE9D-0F4F-8560-75BCCAE3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B7DE7E-32F2-FE1D-CB1B-1DF670958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D8872E-ECF8-332E-7F76-6C260767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31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C6153-E198-AE0A-9AFD-1E5BEA7F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77E428-DE1C-C706-F191-71C6954B5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19F3DB-ECC5-EE49-1ABD-80FCE263B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A0CF0B-490E-130F-4F9F-E538DC39F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FCF1BB1-4E36-7FC7-1743-BA388958C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18FBA7C-4A18-5FDA-BACF-F7EC491F4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EE662F4-4A12-7ABF-D6EA-4BA56DC7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153F03E-28EC-6332-3706-5BC84BD7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45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C70F21-178E-B371-55D9-EEC8E09C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D9AEFD-150C-34F6-6E2B-0B7579498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0613F40-84D2-C5F5-31EF-10AE58E8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7BD0F5-3D32-655F-7A4D-F668D8A6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457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9E25991-BC5B-6B86-615F-12135EA4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45B83A-F5E8-27CE-5064-1327C1D3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951561-C4A5-4A24-A8E7-43F26145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344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8D73E8-7676-9FAB-F26E-4F1DF827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D2F5F-A2E2-FC72-2592-C3797B0C3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208ABF-AE4B-3563-B281-406E70CC9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EE0CAC-2623-762A-E743-B8A77BE0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7D12FA9-A0FD-BA85-3C3F-623A0865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D82D1C-C5A2-DB25-F6D4-B656B99D6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625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39F12C-D25C-EBE4-FE53-65D25F59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E1DE4A4-0116-B993-029A-EC3194BB7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E4C04B-8C62-3264-16CF-E48510FFB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ACE6BDC-A54B-483F-D83E-48E1CD867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8AD3CC-6377-EE6A-376D-B780971F1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E3F6003-F1EF-AB1C-BB17-F17525C43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608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44F844-0B55-7585-6186-7C411603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9A8B8BC-0501-48DA-505A-10FE30EDE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5A5C13-1F1F-CE4B-C145-CFA577B3D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794117-5041-F54D-3451-0DAAA071A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35D4A5-7742-DF0D-EAD2-5F8C0996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737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B5E7C81-0241-962C-007D-4B9C76950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EE2922-4FE8-ECD2-C0F9-C0D3FFD52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8E7B87-5848-1CFF-3BB3-C1FD91B8B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566C2D-60FC-BF2C-297A-30DC42E8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CCB5E8-624E-D3E2-C9AE-1C825BCD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3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C9B947A-E2B7-276A-D1DB-289B0B88C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ACD57D7-FF14-9E67-1633-21EE70B8F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2AC6FED-C00D-E11B-F3A3-89A2B3EAC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FE4DE-5EFD-4AD4-AA78-C463DEA5455A}" type="datetimeFigureOut">
              <a:rPr kumimoji="1" lang="ja-JP" altLang="en-US" smtClean="0"/>
              <a:t>2026/10/7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F70D9F-633E-1FCC-AED5-A3453C159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BA0975F-0EDF-6846-D9AD-59071C785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02E5C-30ED-4F5E-8313-3ED6F69799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07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2B7CF0-A95C-197C-5F4B-A49F33CCE24D}"/>
              </a:ext>
            </a:extLst>
          </p:cNvPr>
          <p:cNvSpPr txBox="1"/>
          <p:nvPr/>
        </p:nvSpPr>
        <p:spPr>
          <a:xfrm>
            <a:off x="762000" y="12192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200" b="1">
                <a:solidFill>
                  <a:srgbClr val="FFC93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ENGLISH SLANG  </a:t>
            </a:r>
            <a:r>
              <a:rPr kumimoji="1" lang="ja-JP" altLang="en-US" sz="1200" b="1">
                <a:solidFill>
                  <a:srgbClr val="FFC93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｜  会話例つき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2D2C71D-D5B1-F380-7048-CEE601E2D016}"/>
              </a:ext>
            </a:extLst>
          </p:cNvPr>
          <p:cNvSpPr txBox="1"/>
          <p:nvPr/>
        </p:nvSpPr>
        <p:spPr>
          <a:xfrm>
            <a:off x="762000" y="15748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40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日本人が知らない</a:t>
            </a:r>
          </a:p>
          <a:p>
            <a:r>
              <a:rPr kumimoji="1" lang="ja-JP" altLang="en-US" sz="40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英語スラング </a:t>
            </a:r>
            <a:r>
              <a:rPr kumimoji="1" lang="en-US" altLang="ja-JP" sz="40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endParaRPr kumimoji="1" lang="ja-JP" altLang="en-US" sz="4000" b="1">
              <a:solidFill>
                <a:srgbClr val="FFFFF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407E43-8DC5-928B-5E9D-C18D0F488AA6}"/>
              </a:ext>
            </a:extLst>
          </p:cNvPr>
          <p:cNvSpPr txBox="1"/>
          <p:nvPr/>
        </p:nvSpPr>
        <p:spPr>
          <a:xfrm>
            <a:off x="762000" y="31750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ネイティブの日常会話や</a:t>
            </a:r>
            <a:r>
              <a:rPr kumimoji="1" lang="en-US" altLang="ja-JP" sz="14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SNS</a:t>
            </a:r>
            <a:r>
              <a:rPr kumimoji="1" lang="ja-JP" altLang="en-US" sz="14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でよく使われるのに、学校では教わらない表現を、会話例と一緒に紹介します。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80DA0A6C-056F-3BAE-F943-F77EABE0CAE5}"/>
              </a:ext>
            </a:extLst>
          </p:cNvPr>
          <p:cNvSpPr/>
          <p:nvPr/>
        </p:nvSpPr>
        <p:spPr>
          <a:xfrm>
            <a:off x="762000" y="4064000"/>
            <a:ext cx="2921000" cy="4572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教科書には載っていない</a:t>
            </a:r>
            <a:r>
              <a:rPr kumimoji="1" lang="en-US" altLang="ja-JP" sz="13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13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フレーズ</a:t>
            </a: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9FD035C2-D8F0-3D4B-6DE9-E7B6C7CE69D9}"/>
              </a:ext>
            </a:extLst>
          </p:cNvPr>
          <p:cNvSpPr/>
          <p:nvPr/>
        </p:nvSpPr>
        <p:spPr>
          <a:xfrm>
            <a:off x="7620000" y="889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C8BC06F5-0331-CCC5-C2D7-C79F495CDE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0" y="1066800"/>
            <a:ext cx="812800" cy="812800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C19165C7-C63B-4796-15E0-7A6EC8393F87}"/>
              </a:ext>
            </a:extLst>
          </p:cNvPr>
          <p:cNvSpPr/>
          <p:nvPr/>
        </p:nvSpPr>
        <p:spPr>
          <a:xfrm>
            <a:off x="9144000" y="635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5727952-156D-4D4C-D816-9B1EB4FB6D1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1800" y="812800"/>
            <a:ext cx="812800" cy="812800"/>
          </a:xfrm>
          <a:prstGeom prst="rect">
            <a:avLst/>
          </a:prstGeom>
        </p:spPr>
      </p:pic>
      <p:sp>
        <p:nvSpPr>
          <p:cNvPr id="12" name="楕円 11">
            <a:extLst>
              <a:ext uri="{FF2B5EF4-FFF2-40B4-BE49-F238E27FC236}">
                <a16:creationId xmlns:a16="http://schemas.microsoft.com/office/drawing/2014/main" id="{EE4B18F2-4E3C-1144-B546-3DB00708D7EC}"/>
              </a:ext>
            </a:extLst>
          </p:cNvPr>
          <p:cNvSpPr/>
          <p:nvPr/>
        </p:nvSpPr>
        <p:spPr>
          <a:xfrm>
            <a:off x="10668000" y="1143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D8C6FB34-297E-7313-4C80-DE868B3E984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5800" y="1320800"/>
            <a:ext cx="812800" cy="812800"/>
          </a:xfrm>
          <a:prstGeom prst="rect">
            <a:avLst/>
          </a:prstGeom>
        </p:spPr>
      </p:pic>
      <p:sp>
        <p:nvSpPr>
          <p:cNvPr id="15" name="楕円 14">
            <a:extLst>
              <a:ext uri="{FF2B5EF4-FFF2-40B4-BE49-F238E27FC236}">
                <a16:creationId xmlns:a16="http://schemas.microsoft.com/office/drawing/2014/main" id="{D0A62041-7CBD-B3AA-CF1F-91F6F8EBDBDD}"/>
              </a:ext>
            </a:extLst>
          </p:cNvPr>
          <p:cNvSpPr/>
          <p:nvPr/>
        </p:nvSpPr>
        <p:spPr>
          <a:xfrm>
            <a:off x="7112000" y="2413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EBE35B43-2D3F-C4CE-31A5-B548905268AB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800" y="2590800"/>
            <a:ext cx="812800" cy="812800"/>
          </a:xfrm>
          <a:prstGeom prst="rect">
            <a:avLst/>
          </a:prstGeom>
        </p:spPr>
      </p:pic>
      <p:sp>
        <p:nvSpPr>
          <p:cNvPr id="18" name="楕円 17">
            <a:extLst>
              <a:ext uri="{FF2B5EF4-FFF2-40B4-BE49-F238E27FC236}">
                <a16:creationId xmlns:a16="http://schemas.microsoft.com/office/drawing/2014/main" id="{49C085A1-4B98-37C2-80EE-1A0FB8855BC3}"/>
              </a:ext>
            </a:extLst>
          </p:cNvPr>
          <p:cNvSpPr/>
          <p:nvPr/>
        </p:nvSpPr>
        <p:spPr>
          <a:xfrm>
            <a:off x="8636000" y="2159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D541C292-4957-C0F2-E221-A0047159500F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00" y="2336800"/>
            <a:ext cx="812800" cy="812800"/>
          </a:xfrm>
          <a:prstGeom prst="rect">
            <a:avLst/>
          </a:prstGeom>
        </p:spPr>
      </p:pic>
      <p:sp>
        <p:nvSpPr>
          <p:cNvPr id="21" name="楕円 20">
            <a:extLst>
              <a:ext uri="{FF2B5EF4-FFF2-40B4-BE49-F238E27FC236}">
                <a16:creationId xmlns:a16="http://schemas.microsoft.com/office/drawing/2014/main" id="{636F9CB0-3A07-9355-F482-6501452C3079}"/>
              </a:ext>
            </a:extLst>
          </p:cNvPr>
          <p:cNvSpPr/>
          <p:nvPr/>
        </p:nvSpPr>
        <p:spPr>
          <a:xfrm>
            <a:off x="10160000" y="2667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4748A2D2-C98A-F6FB-BF3A-2C651D0A46FB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800" y="2844800"/>
            <a:ext cx="812800" cy="812800"/>
          </a:xfrm>
          <a:prstGeom prst="rect">
            <a:avLst/>
          </a:prstGeom>
        </p:spPr>
      </p:pic>
      <p:sp>
        <p:nvSpPr>
          <p:cNvPr id="24" name="楕円 23">
            <a:extLst>
              <a:ext uri="{FF2B5EF4-FFF2-40B4-BE49-F238E27FC236}">
                <a16:creationId xmlns:a16="http://schemas.microsoft.com/office/drawing/2014/main" id="{08845AB0-403E-DDD3-53A2-E362C7567465}"/>
              </a:ext>
            </a:extLst>
          </p:cNvPr>
          <p:cNvSpPr/>
          <p:nvPr/>
        </p:nvSpPr>
        <p:spPr>
          <a:xfrm>
            <a:off x="7874000" y="3937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4E41BC39-48C4-1997-AA5F-80ADD0856CBB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800" y="4114800"/>
            <a:ext cx="812800" cy="812800"/>
          </a:xfrm>
          <a:prstGeom prst="rect">
            <a:avLst/>
          </a:prstGeom>
        </p:spPr>
      </p:pic>
      <p:sp>
        <p:nvSpPr>
          <p:cNvPr id="27" name="楕円 26">
            <a:extLst>
              <a:ext uri="{FF2B5EF4-FFF2-40B4-BE49-F238E27FC236}">
                <a16:creationId xmlns:a16="http://schemas.microsoft.com/office/drawing/2014/main" id="{40A24E8A-A882-2E4E-038B-7D546E5513F4}"/>
              </a:ext>
            </a:extLst>
          </p:cNvPr>
          <p:cNvSpPr/>
          <p:nvPr/>
        </p:nvSpPr>
        <p:spPr>
          <a:xfrm>
            <a:off x="9398000" y="3683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E98529B5-4753-9B7F-851E-1F924B7C30DC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800" y="3860800"/>
            <a:ext cx="812800" cy="812800"/>
          </a:xfrm>
          <a:prstGeom prst="rect">
            <a:avLst/>
          </a:prstGeom>
        </p:spPr>
      </p:pic>
      <p:sp>
        <p:nvSpPr>
          <p:cNvPr id="30" name="楕円 29">
            <a:extLst>
              <a:ext uri="{FF2B5EF4-FFF2-40B4-BE49-F238E27FC236}">
                <a16:creationId xmlns:a16="http://schemas.microsoft.com/office/drawing/2014/main" id="{E82D1064-A824-865B-E19D-EFCAA2CF5033}"/>
              </a:ext>
            </a:extLst>
          </p:cNvPr>
          <p:cNvSpPr/>
          <p:nvPr/>
        </p:nvSpPr>
        <p:spPr>
          <a:xfrm>
            <a:off x="10922000" y="4191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616BD9A8-B7E5-A8DB-81FD-DA4E5A47DF1E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800" y="4368800"/>
            <a:ext cx="812800" cy="812800"/>
          </a:xfrm>
          <a:prstGeom prst="rect">
            <a:avLst/>
          </a:prstGeom>
        </p:spPr>
      </p:pic>
      <p:sp>
        <p:nvSpPr>
          <p:cNvPr id="33" name="楕円 32">
            <a:extLst>
              <a:ext uri="{FF2B5EF4-FFF2-40B4-BE49-F238E27FC236}">
                <a16:creationId xmlns:a16="http://schemas.microsoft.com/office/drawing/2014/main" id="{06F1DABA-6DE3-F211-281D-2FED5DC833CF}"/>
              </a:ext>
            </a:extLst>
          </p:cNvPr>
          <p:cNvSpPr/>
          <p:nvPr/>
        </p:nvSpPr>
        <p:spPr>
          <a:xfrm>
            <a:off x="8890000" y="5207000"/>
            <a:ext cx="1168400" cy="11684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BEBD4193-6548-5352-A6D5-8B24E696AF2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5384800"/>
            <a:ext cx="812800" cy="812800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AFAF22C0-3BA4-9B87-814F-3C6A1EDDE29C}"/>
              </a:ext>
            </a:extLst>
          </p:cNvPr>
          <p:cNvSpPr txBox="1"/>
          <p:nvPr/>
        </p:nvSpPr>
        <p:spPr>
          <a:xfrm>
            <a:off x="762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37128083-7A22-2542-BE94-1D1E7D261416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 / 12</a:t>
            </a:r>
            <a:endParaRPr kumimoji="1" lang="ja-JP" altLang="en-US" sz="800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58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5CE998-B8FA-C95B-4EC9-0EF44E85C18B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7D4AAC-05E0-4A2B-667A-2DBA58360282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01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66ECF5-8ADF-E420-9FFD-5958CFF8B11C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3A95E3D-B6B8-89DF-9B75-7A76A542CC5F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526758D-9B77-B7B9-7272-3BF3C659917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200C1CE-BA77-7227-5152-9FA599372934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使う場面：本当だと強調したい時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5CDF7EB-A723-7CD3-37C3-6B8BE834BF81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8C0B476-7223-E84F-5D9B-01A34F0FA5B5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No cap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CB9C54-586B-EA4A-6D16-9AE2A9B22F48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マジで、ウソじゃない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9E0B1BC-F174-F97B-36C0-16459FE62734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「</a:t>
            </a: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cap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」はスラングで「ウソ」。</a:t>
            </a: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No cap 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で「盛ってない、本当だよ」と強調する。逆に </a:t>
            </a: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That's cap. 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は「それウソでしょ」。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7F8BED4-EF67-EF1C-78A8-59273FF19E12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05D6DBE-DE1B-649D-74A2-44B737EADA66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3FE2D1A1-F7D1-980A-4486-6CC29E3E1106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This is the best ramen ever, no cap.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これ、人生最高のラーメン。マジで。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233B7D9C-896A-A265-5191-4C050F4ABD15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AD4D2A5E-D2B2-D800-ED33-15EA84FF3FE7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For real? I need to try it.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本当に？ 食べてみなきゃ。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341E235-9E01-4D4D-0BF5-B57A6D424F65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9FC4D56-9901-3DE7-D89E-B8365B5559ED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26C8979-16B3-B0A6-0F9E-828960873E4C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文末に付けるだけで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OK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。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SNS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では帽子の絵文字で「ウソ」を表すこともある。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C0D0B75-E790-5CFC-2219-8AA99F9AAC11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C22868C-48C3-966D-AAD8-C4D794D404F8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817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8F78DB-4BD7-1E95-A513-EC9B29DE6611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65D6B2-1D1C-2498-616B-34F7E6E87756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02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6FC878-2A81-3889-8FCB-5B81FF9CFA5F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77857F6-13F7-0F5A-5A77-60B138F969AA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4076512-8ABD-C4D1-3555-DFEFE8D019A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9B88E50-4B1D-8C00-D9D9-2A6CC66837A5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使う場面：友だちと噂話をする時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6922109-FBDD-CB9B-CF6A-CCA071AA75C3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D30FA3-2055-0303-3D00-5D409FDB4766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Spill the tea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569C21C-7676-890E-7BB2-C939CD5408BA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噂話を教えて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44729CD-2531-2C19-4B4A-777DE45521DE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tea 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は「ゴシップ、内輪の情報」。お茶をこぼす＝秘密をしゃべる、というイメージ。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631E0DC-6E89-2D0C-F0D2-A8DDDE57AC75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7EC74F9-0F62-7A5D-47B0-CEF018CA72CD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D670517-D1A1-B510-DEEC-C12D5326379F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Did you hear what happened at the party?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パーティーで何があったか聞いた？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78D5744D-E242-C420-E96C-C4FB50C78913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294DE3FC-3398-7A27-D478-26C659AB055C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No! Spill the tea!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聞いてない！ 早く教えて！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964918B5-A818-682E-44D9-1162BBA1F961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A3E2CC7-A59B-0B59-51D2-AB3BA5750CFF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243FCC7-3E77-F583-211D-165913DFA3F7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What's the tea?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（何か面白い話ある？）も同じ仲間の表現。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16D5A3D-7E33-BAB1-62C6-E245D655ACE3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44A69F2-372E-7F1C-E228-8B988C9F9731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153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1965090-BA44-9A7C-C780-B292126B0716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74FD5C-C183-30A4-019B-C7DED997CFD6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03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4F039BD-7AD3-4855-B049-938B5C321C30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1ACBF891-170C-EF27-BC6D-24D14A4172FF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B606BC5-B737-E38B-83B7-EB43293862C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C8BB21C-3D31-8BF9-FE56-E5937B16E24A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使う場面：控えめに本音を言う時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2101DF-EB61-235D-8A57-ADED9203E580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23309ED-8AAD-03F9-DC02-F131B4F5A018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Lowkey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2A24CE4-58B0-4F13-81E0-D879882AD821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ちょっと、ひそかに、正直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69207B-9EC1-2E9D-87F5-181E121D2EBA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大声では言わないけど</a:t>
            </a: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…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という控えめな本音を表す。反対は </a:t>
            </a: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highkey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（めっちゃ、堂々と）。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68A555-790C-BAE7-518A-B211A46CD45B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C1C0481-B115-5359-16C4-23B49DA455C9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617A21C-A2D5-27F7-FCE3-F0D32447350D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I lowkey want to skip the meeting.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正直、会議ちょっとサボりたい。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775919E-A26F-14EA-C4D6-06D58EFF7664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032F88B7-8150-26F6-5A49-83345324DA21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Same. It's going to be so long.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わかる。絶対長くなるよね。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4A57C61-55A7-165E-F613-22500946FD6D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A4F02F6-F77F-7462-C2CC-7C863828C976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4A6B693-7D9D-0B27-A18E-A632D511A035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文のどこにでも入れやすい。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Lowkey hungry.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（ちょっとお腹すいた）のように短くも使える。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09639DB-D7D1-3D46-69BE-B1BDD6CFA471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4EB733E-93C9-81BC-C926-90FDB124EFAA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208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75DA93-F694-C5E0-9956-B295CFAC1ED3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0B8D705-5F8E-348A-6BDE-81A373A7ECBD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04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65DB5C-D2A4-F0D7-81C4-C028D44933A2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4FB073E-0A18-0AE3-7184-BE2D8A35A92B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757389E-109C-8176-B8B6-D2CD186F977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BE550812-9B0C-7F12-7D14-B5BC06712003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使う場面：音楽や食べ物をほめる時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32033F0-D133-40BC-C5CC-642CC3D695FD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A0D60D6-29D4-BBF4-B6BA-EAD075914AE7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It slaps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74A0BD-9A38-C96F-4226-6E4E5BB27FCF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最高、めちゃくちゃいい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0D9C5CE-85E2-40FC-2180-95BDC31EB190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主に音楽や食べ物に使う。</a:t>
            </a:r>
            <a:r>
              <a:rPr kumimoji="1" lang="en-US" altLang="ja-JP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slap</a:t>
            </a: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（平手打ち）されたような衝撃を受けるほど良い、という意味。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2EBD79B-B1F1-79D1-FA84-B56190E2D411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24762DA-6004-95C3-9436-DC964959BE4D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B29AAF29-E6EE-675F-6205-1F61AE9C31B2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Have you heard her new song?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彼女の新曲聴いた？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FCAA8EBD-1027-9DC0-25AE-C50E5D36FF0A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2F1E667-7063-CD17-91F7-215429162A5F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Yes! It slaps. I've played it ten times.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聴いた！ 最高。もう</a:t>
            </a:r>
            <a:r>
              <a:rPr kumimoji="1" lang="en-US" altLang="ja-JP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回は聴いてる。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4FB51E18-CF2E-CA36-DDAE-575EEA4B6BAA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0A636D8-FF4B-1657-063E-0C41AB8AEA0B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95ECA5E-AB68-F068-B252-19CC49B34CA5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This pizza slaps. 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のように主語を変えるだけで使える。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D5816E1-96C3-C2E3-09A3-70D1878FA8DD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B045F34-10EF-3485-01CF-F2548488D930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5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0615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B6EDE05-FA16-DEDC-24A8-5A138DF18171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4AFACBA-73D6-47BA-E87F-F36746AD63C5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05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3BC90C5-2BA6-E7C0-801B-FD2E3AEFC805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CA54DA0B-2041-CA84-81B2-CE1EB7B47CD9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4B58ECE-0CA8-276C-F39D-3F76B05DC18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D9449B8B-ED80-BABC-BC4A-2AD158947A24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使う場面：面白い話に反応する時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FDD8200-DF04-196B-5605-20393B488163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97CEB0E-7329-9EFC-083F-EFF1DEA99708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I'm dead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BFC02E7-541A-2486-BACF-10BC04EA64B0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ウケる、笑いすぎて死ぬ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3B80A8B-931A-811B-850F-8C13F9D3C5E1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本当に死ぬわけではなく、「面白すぎて死んだ」という誇張。チャットではドクロの絵文字だけでも同じ意味になる。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7823488-2AA7-FCF5-DF2C-07EAC2DBC4B0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9A4DD95-4A37-CB39-BE79-4D465CF9DCD4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5291AA1-FEB2-8852-8573-4133730B66AB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My dog stole my sandwich on a video call.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オンライン会議中に犬にサンドイッチ盗まれた。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BCC132F5-4966-60E1-28CE-F7B7AFBBACAF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137297B-AEE5-8392-BFA2-745D0F9D33FA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Stop, I'm dead.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やめて、ウケる（笑）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D040F8FC-B20D-4A97-100F-5B9B9100B961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2ADF84-D787-CF93-F19B-794B239E6975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F244D71-7F8B-D6AA-479A-41D17769805C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I'm dying. 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や 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 can't. 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も「笑いが止まらない」の意味で使われる。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83A4779-0911-BA96-C79A-B4E7DA25DB92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E6A8160-A9F6-5039-05A8-52905D29A393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6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3932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4F343F6-3A47-0EE7-5D28-22B49BCD9253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05F6A0A-44E4-436F-CC8F-A4DCA72C72AA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06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B9199E-9862-133E-27EC-160827A14F57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CF3AB7F-1E92-7683-F68B-885035F228E6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5F0518F-1154-719C-5ACB-15C83C880A2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C64C42D5-50F5-950E-A11F-E9B2E4D5F078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使う場面：恋愛・人間関係の話で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A1A5723-D460-0E82-032C-9BA32556A1C0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548CD3C-26A7-B8DA-8E52-270E0D96747C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Ghost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583D71F-6B41-894E-6FFF-8D11653A9C0A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急に連絡を絶つ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68A31FF-F91B-32B8-0700-E1CBF80BB3D4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幽霊のように突然消えること。恋愛や友人関係のほか、採用選考などで返事が来ない時にも使う。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86A024E-827E-D753-40F2-B78339140503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3AC543BA-C6C2-ADB0-8281-C26A66F6BE30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182EFDA-CE84-B368-E48E-CDCB285CF1E5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What happened with the guy from the app?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アプリで知り合った彼とはどうなったの？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87A6D2F9-01A2-60C0-C114-D1F1BE43F11B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D0C4BB9E-1732-F5A7-FBA3-4E3E846F5C4B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He ghosted me after our second date.</a:t>
            </a:r>
          </a:p>
          <a:p>
            <a:pPr>
              <a:spcBef>
                <a:spcPts val="200"/>
              </a:spcBef>
            </a:pPr>
            <a:r>
              <a:rPr kumimoji="1" lang="en-US" altLang="ja-JP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回目のデートの後、音信不通になった。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2F696310-998A-8FF8-84CC-89E91AFA2E8D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0B99FD3D-7B94-7350-6F32-449CF1B6530C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8778478-C029-EC82-046E-34A2B607FECE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動詞として使う。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get ghosted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（音信不通にされる）の形も多い。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3B729FE-7B00-A7EB-DE67-6E14BD6A9273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439029F-29EA-C873-7F10-14403EB6E9AE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7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9195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AC2940-3028-9A0C-E1E6-2555F083113A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52425E-B7C6-2AA1-7F11-64FBBF2ED105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07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C8986E-B21E-D65E-AAB6-0D0805EF0B6C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81FB09B-CA8F-8478-49AF-CE7981E1FFAD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6D0546E-BA7A-CA02-915B-9371258340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551A3EBB-2584-D21E-068F-E04B78864A71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使う場面：すねている人について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7B9034F-CFA0-A50D-D919-FFD86757422B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1FD16E2-D160-F816-0027-C627CB882420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Salty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7C42BAF-854A-681A-F923-7B2D7FD58759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すねている、根に持っている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DAB7B20-2DA3-BBAE-EB33-8BCC40FFF2F8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負けたり、からかわれたりして、ちょっとイラッとしている状態。本気の怒りより軽い。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47EAA13-B7C4-DEAA-310A-ED4528F32CBB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226E8ECE-D8BB-021E-A0AC-0DF56EA4A0A7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504025F-5A8D-DCA7-F074-2399529F3701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Why is Tom so quiet?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トム、なんであんなに静かなの？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C037298-F06E-C7DE-7AA4-46D82604C1A7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C7A27155-2712-C872-A712-3C1D22EEA973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He's still salty about losing the game.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試合に負けたこと、まだ根に持ってるんだよ。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B60CC7E-6C41-02D4-465E-DE4925BA4B37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48A67C3-ABFC-CDAD-D6F2-E240EBE9259D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1A23FA2-0986-2C1B-5D69-7BC437F9910A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Don't be salty.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（すねないでよ）と、からかう時にもよく使う。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DDAF1CE-9265-D48E-395D-E95EBE260AB3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2E155CC-0AD1-D4EF-167A-FFA575EEBA6D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8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7924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E93A907-F2E6-CD48-18E6-0D4060B37EFC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A791934-019C-825D-64A8-F2AFF0829346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08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AF2C0A-1E8B-531C-C9EE-D9023C7ACE50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EBAE41F-85C4-E9B7-6690-F2CAF76FE6DD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F24F834-AE44-500C-9EA1-1DED727352B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63C38767-1A06-38A9-A686-4AFD7037D0E1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使う場面：何かが頭から離れない時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16EB497-92D9-D8AA-F7C1-59D2DDF2477A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7E3E51-CF2B-676F-1371-59853A920A68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Rent-free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F34A77D-6791-274F-44DB-4EC523BE4C8E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頭から離れない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D45EB2D-D6DA-2994-BBC5-4F0022154EEB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家賃も払わずに頭の中に住みついている、という比喩。良い意味でも悪い意味でも使える。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543012E-F37E-D5CA-3367-99AFE0A3B73B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2B44FF8-83D0-F2EB-3E9C-5D58F0CBB491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2BD7701-7CB9-6390-A511-620C73DBB880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That jingle lives rent-free in my head.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あの</a:t>
            </a:r>
            <a:r>
              <a:rPr kumimoji="1" lang="en-US" altLang="ja-JP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CM</a:t>
            </a: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ソング、頭から離れないんだけど。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6D0B6416-BAC4-6CA2-3E2A-08C60EF24978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1397648-5D10-B083-19DF-D1519DB432F1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Oh no, now it's in mine too.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やめて、私もそうなっちゃった。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1313359E-6CD1-6F88-87E9-1416FBBDCE4D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D28D09F-4FAF-036B-D0B1-E547D0953354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5E47AB-094B-E7BB-F334-D3CBED261914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◯◯ lives rent-free in my head. 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が定番の形。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54DF9BC-10B1-B484-CCF2-D9BF56F38314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C54669C-F651-F901-0286-980C8888B75B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9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81464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DC7DF1-091C-5870-63E3-BFB365C3FB1B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3AACA0-D413-9515-60B1-5D1A37AA3016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09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6543BC-3BAC-AA7B-D02C-0844BA80DC13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7CA57CDE-C31B-B5D3-2CA8-0BE8FAC7CA31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C9D293E-E1FC-DC82-D331-64021F2CC0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F42B9B0A-1946-5EC9-1057-AE86AF8C85B8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使う場面：いつもより特別に感じた時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00CA33-6FE6-8FA9-D601-0B0FDDE737D0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1BF9C44-B694-9CC4-05A4-F011424856E0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Hits different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B42EFC9-9FAC-4978-6EE1-45A6B7E2D032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格別に感じる、妙に刺さる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AED5B6A-D019-C670-7999-D7BE8FFE80CC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同じものでも、状況やタイミングによって特別に感じる時に使う。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99CAE0C-BD5A-16F8-5D7F-B98F59DC746F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1D6E53F7-61DC-7A07-E149-B03AD517EF1B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0433DD9-41C5-4316-56A1-685D4DA15760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Coffee on a cold morning is so good.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寒い朝のコーヒーって、すごくおいしい。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C4A6884F-EEB9-286B-0127-C0C391D900EB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182C71A-9C2E-AF90-2FBE-E6ACCBE0BF3E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Right? It just hits different.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だよね。なんか格別なんだよ。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66659DF-7CC7-8D8B-E801-598A94A9DB00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227C31E-ACE8-2564-CE18-0933385690D1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BDC797B-40A2-A1AC-7C83-5CFE24367862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文法的には 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hits differently 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だが、スラングでは </a:t>
            </a:r>
            <a:r>
              <a:rPr kumimoji="1" lang="en-US" altLang="ja-JP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different </a:t>
            </a: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のまま使うのが普通。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5802EDE-573D-E181-15DD-B34BABD48ECF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5E1CC50-E17E-3EFC-92A6-AF851092FF1F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10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48149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9558FD-246C-15B8-4477-0DDD300F4CDA}"/>
              </a:ext>
            </a:extLst>
          </p:cNvPr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5654C4-7B4F-1C60-A34E-92320D0E7084}"/>
              </a:ext>
            </a:extLst>
          </p:cNvPr>
          <p:cNvSpPr txBox="1"/>
          <p:nvPr/>
        </p:nvSpPr>
        <p:spPr>
          <a:xfrm>
            <a:off x="457200" y="431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40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10</a:t>
            </a:r>
            <a:endParaRPr kumimoji="1" lang="ja-JP" altLang="en-US" sz="40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C7170B-5974-7D30-E816-C5DE1DBB1401}"/>
              </a:ext>
            </a:extLst>
          </p:cNvPr>
          <p:cNvSpPr txBox="1"/>
          <p:nvPr/>
        </p:nvSpPr>
        <p:spPr>
          <a:xfrm>
            <a:off x="457200" y="1066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 b="1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SLANG PHRASE</a:t>
            </a:r>
            <a:endParaRPr kumimoji="1" lang="ja-JP" altLang="en-US" sz="1000" b="1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A240684-9E22-2F08-5FA6-8F8491474F63}"/>
              </a:ext>
            </a:extLst>
          </p:cNvPr>
          <p:cNvSpPr/>
          <p:nvPr/>
        </p:nvSpPr>
        <p:spPr>
          <a:xfrm>
            <a:off x="698500" y="1905000"/>
            <a:ext cx="2794000" cy="2794000"/>
          </a:xfrm>
          <a:prstGeom prst="ellipse">
            <a:avLst/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28881A4-4BDE-EB3A-9132-80FAB3834D6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2286000"/>
            <a:ext cx="2032000" cy="2032000"/>
          </a:xfrm>
          <a:prstGeom prst="rect">
            <a:avLst/>
          </a:prstGeom>
        </p:spPr>
      </p:pic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3483B51-FAD4-B083-AE8B-F8A48FF0FB91}"/>
              </a:ext>
            </a:extLst>
          </p:cNvPr>
          <p:cNvSpPr/>
          <p:nvPr/>
        </p:nvSpPr>
        <p:spPr>
          <a:xfrm>
            <a:off x="457200" y="5461000"/>
            <a:ext cx="3276600" cy="508000"/>
          </a:xfrm>
          <a:prstGeom prst="roundRect">
            <a:avLst>
              <a:gd name="adj" fmla="val 50000"/>
            </a:avLst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使う場面：友だちを軽くからかう時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563DEE-3D8B-2F71-E36D-007B109545EC}"/>
              </a:ext>
            </a:extLst>
          </p:cNvPr>
          <p:cNvSpPr txBox="1"/>
          <p:nvPr/>
        </p:nvSpPr>
        <p:spPr>
          <a:xfrm>
            <a:off x="4699000" y="4572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意味と使い方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7DA36CC-BB48-317F-F3B6-C197104BB97A}"/>
              </a:ext>
            </a:extLst>
          </p:cNvPr>
          <p:cNvSpPr txBox="1"/>
          <p:nvPr/>
        </p:nvSpPr>
        <p:spPr>
          <a:xfrm>
            <a:off x="4699000" y="6858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380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Touch grass</a:t>
            </a:r>
            <a:endParaRPr kumimoji="1" lang="ja-JP" altLang="en-US" sz="3800" b="1">
              <a:solidFill>
                <a:srgbClr val="1E1A2E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22F6D11-419D-4AB6-F7FA-3F2FD33F0E84}"/>
              </a:ext>
            </a:extLst>
          </p:cNvPr>
          <p:cNvSpPr txBox="1"/>
          <p:nvPr/>
        </p:nvSpPr>
        <p:spPr>
          <a:xfrm>
            <a:off x="4699000" y="13716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ネットから離れて外に出なよ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5413020-DB38-1E17-545C-C7E70AB39A6F}"/>
              </a:ext>
            </a:extLst>
          </p:cNvPr>
          <p:cNvSpPr txBox="1"/>
          <p:nvPr/>
        </p:nvSpPr>
        <p:spPr>
          <a:xfrm>
            <a:off x="4699000" y="1778000"/>
            <a:ext cx="698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2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「草に触れてこい」＝ネットやゲームにのめり込みすぎた人への、からかい半分のひと言。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4DD9904-1E8B-74B8-05F0-89AE38F84C0B}"/>
              </a:ext>
            </a:extLst>
          </p:cNvPr>
          <p:cNvSpPr txBox="1"/>
          <p:nvPr/>
        </p:nvSpPr>
        <p:spPr>
          <a:xfrm>
            <a:off x="4699000" y="2565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FF4F7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会話例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AD0CEED9-6A27-787E-644D-0AEAA3DC63CF}"/>
              </a:ext>
            </a:extLst>
          </p:cNvPr>
          <p:cNvSpPr/>
          <p:nvPr/>
        </p:nvSpPr>
        <p:spPr>
          <a:xfrm>
            <a:off x="4699000" y="2946400"/>
            <a:ext cx="381000" cy="381000"/>
          </a:xfrm>
          <a:prstGeom prst="ellipse">
            <a:avLst/>
          </a:prstGeom>
          <a:solidFill>
            <a:srgbClr val="2D1B6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A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68D403E-AAA3-87F1-09F4-9232B6A8EDD8}"/>
              </a:ext>
            </a:extLst>
          </p:cNvPr>
          <p:cNvSpPr/>
          <p:nvPr/>
        </p:nvSpPr>
        <p:spPr>
          <a:xfrm>
            <a:off x="5207000" y="28194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0E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I've been gaming for 12 hours straight.</a:t>
            </a:r>
          </a:p>
          <a:p>
            <a:pPr>
              <a:spcBef>
                <a:spcPts val="200"/>
              </a:spcBef>
            </a:pPr>
            <a:r>
              <a:rPr kumimoji="1" lang="en-US" altLang="ja-JP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</a:t>
            </a: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時間ぶっ通しでゲームしてる。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845716EA-1F87-C95C-8EC7-64F8C6021E0E}"/>
              </a:ext>
            </a:extLst>
          </p:cNvPr>
          <p:cNvSpPr/>
          <p:nvPr/>
        </p:nvSpPr>
        <p:spPr>
          <a:xfrm>
            <a:off x="11303000" y="38608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2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B</a:t>
            </a:r>
            <a:endParaRPr kumimoji="1" lang="ja-JP" altLang="en-US" sz="12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8DDDA66-FA03-2E9D-4F31-AEB280C5BCAB}"/>
              </a:ext>
            </a:extLst>
          </p:cNvPr>
          <p:cNvSpPr/>
          <p:nvPr/>
        </p:nvSpPr>
        <p:spPr>
          <a:xfrm>
            <a:off x="6096000" y="3733800"/>
            <a:ext cx="5080000" cy="711200"/>
          </a:xfrm>
          <a:prstGeom prst="roundRect">
            <a:avLst>
              <a:gd name="adj" fmla="val 28000"/>
            </a:avLst>
          </a:prstGeom>
          <a:solidFill>
            <a:srgbClr val="FFE4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03200" tIns="50800" rIns="177800" bIns="50800" rtlCol="0" anchor="ctr"/>
          <a:lstStyle/>
          <a:p>
            <a:r>
              <a:rPr kumimoji="1" lang="en-US" altLang="ja-JP" sz="1450" b="1">
                <a:solidFill>
                  <a:srgbClr val="1E1A2E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Dude, go touch grass.</a:t>
            </a:r>
          </a:p>
          <a:p>
            <a:pPr>
              <a:spcBef>
                <a:spcPts val="200"/>
              </a:spcBef>
            </a:pPr>
            <a:r>
              <a:rPr kumimoji="1" lang="ja-JP" altLang="en-US" sz="1100">
                <a:solidFill>
                  <a:srgbClr val="666277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おい、ちょっとは外に出ろよ。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8A5BFD36-BF8A-A825-A138-5776BF38ACCF}"/>
              </a:ext>
            </a:extLst>
          </p:cNvPr>
          <p:cNvSpPr/>
          <p:nvPr/>
        </p:nvSpPr>
        <p:spPr>
          <a:xfrm>
            <a:off x="4699000" y="4876800"/>
            <a:ext cx="6985000" cy="889000"/>
          </a:xfrm>
          <a:prstGeom prst="roundRect">
            <a:avLst>
              <a:gd name="adj" fmla="val 12000"/>
            </a:avLst>
          </a:prstGeom>
          <a:solidFill>
            <a:srgbClr val="FFF6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01B4216-FA58-4A7F-791C-4021A7A30383}"/>
              </a:ext>
            </a:extLst>
          </p:cNvPr>
          <p:cNvSpPr txBox="1"/>
          <p:nvPr/>
        </p:nvSpPr>
        <p:spPr>
          <a:xfrm>
            <a:off x="4927600" y="50419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使い方のコツ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DCD085F-AEC1-17E5-AF59-C3360A6381E0}"/>
              </a:ext>
            </a:extLst>
          </p:cNvPr>
          <p:cNvSpPr txBox="1"/>
          <p:nvPr/>
        </p:nvSpPr>
        <p:spPr>
          <a:xfrm>
            <a:off x="4927600" y="5283200"/>
            <a:ext cx="6527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相手を軽く茶化す表現。親しくない人に言うと失礼になるので注意。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DBEACF9-0932-40CE-A133-4E95716011C6}"/>
              </a:ext>
            </a:extLst>
          </p:cNvPr>
          <p:cNvSpPr txBox="1"/>
          <p:nvPr/>
        </p:nvSpPr>
        <p:spPr>
          <a:xfrm>
            <a:off x="4699000" y="65278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English Slang 10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1786AC3-68E1-3D2D-73F7-D9E656F98ACC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666277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11 / 12</a:t>
            </a:r>
            <a:endParaRPr kumimoji="1" lang="ja-JP" altLang="en-US" sz="800">
              <a:solidFill>
                <a:srgbClr val="666277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6731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8E34370-9A51-8F5D-364F-6A6F749BFE32}"/>
              </a:ext>
            </a:extLst>
          </p:cNvPr>
          <p:cNvSpPr txBox="1"/>
          <p:nvPr/>
        </p:nvSpPr>
        <p:spPr>
          <a:xfrm>
            <a:off x="508000" y="3810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100" b="1">
                <a:solidFill>
                  <a:srgbClr val="FFC93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REVIEW</a:t>
            </a:r>
            <a:endParaRPr kumimoji="1" lang="ja-JP" altLang="en-US" sz="1100" b="1">
              <a:solidFill>
                <a:srgbClr val="FFC93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8D6E8CE-72AB-4911-DBE5-16D4B6BE8B67}"/>
              </a:ext>
            </a:extLst>
          </p:cNvPr>
          <p:cNvSpPr txBox="1"/>
          <p:nvPr/>
        </p:nvSpPr>
        <p:spPr>
          <a:xfrm>
            <a:off x="508000" y="635000"/>
            <a:ext cx="1117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8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2800" b="1">
                <a:solidFill>
                  <a:srgbClr val="FFFFF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フレーズのおさらいと、使うときの注意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74C2EC5-2E51-CE2F-3009-2CA2AA0B73EC}"/>
              </a:ext>
            </a:extLst>
          </p:cNvPr>
          <p:cNvSpPr/>
          <p:nvPr/>
        </p:nvSpPr>
        <p:spPr>
          <a:xfrm>
            <a:off x="508000" y="13716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ADEAB12-F228-BF31-0766-C7407A6BB1A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24000"/>
            <a:ext cx="431800" cy="4318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F916F5-2EDA-8C19-0DA0-80B67E20AF19}"/>
              </a:ext>
            </a:extLst>
          </p:cNvPr>
          <p:cNvSpPr txBox="1"/>
          <p:nvPr/>
        </p:nvSpPr>
        <p:spPr>
          <a:xfrm>
            <a:off x="1193800" y="1600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No cap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CCA47D1-15CB-9832-9EC2-3EBDC5971E3E}"/>
              </a:ext>
            </a:extLst>
          </p:cNvPr>
          <p:cNvSpPr txBox="1"/>
          <p:nvPr/>
        </p:nvSpPr>
        <p:spPr>
          <a:xfrm>
            <a:off x="660400" y="2082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マジで、ウソじゃない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E07CEF8F-8DC3-92C3-E382-546CABAA3254}"/>
              </a:ext>
            </a:extLst>
          </p:cNvPr>
          <p:cNvSpPr/>
          <p:nvPr/>
        </p:nvSpPr>
        <p:spPr>
          <a:xfrm>
            <a:off x="2781300" y="13716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9691961-89E1-A151-63C2-B00C263A9B3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1524000"/>
            <a:ext cx="431800" cy="4318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213E42-A88D-D7BF-6421-86D913D84680}"/>
              </a:ext>
            </a:extLst>
          </p:cNvPr>
          <p:cNvSpPr txBox="1"/>
          <p:nvPr/>
        </p:nvSpPr>
        <p:spPr>
          <a:xfrm>
            <a:off x="3467100" y="1600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Spill the tea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8607298-3CD4-586D-71E5-DF2F343262DF}"/>
              </a:ext>
            </a:extLst>
          </p:cNvPr>
          <p:cNvSpPr txBox="1"/>
          <p:nvPr/>
        </p:nvSpPr>
        <p:spPr>
          <a:xfrm>
            <a:off x="2933700" y="2082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噂話を教えて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F3D85A3F-5CFB-E9E4-BAD0-5E624A2FF11E}"/>
              </a:ext>
            </a:extLst>
          </p:cNvPr>
          <p:cNvSpPr/>
          <p:nvPr/>
        </p:nvSpPr>
        <p:spPr>
          <a:xfrm>
            <a:off x="5054600" y="13716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B1C42E11-CE7C-33A6-F4C3-8EB25F5CE84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1524000"/>
            <a:ext cx="431800" cy="4318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5C45464-7A72-FDBB-2084-3990D6BF7C28}"/>
              </a:ext>
            </a:extLst>
          </p:cNvPr>
          <p:cNvSpPr txBox="1"/>
          <p:nvPr/>
        </p:nvSpPr>
        <p:spPr>
          <a:xfrm>
            <a:off x="5740400" y="1600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Lowkey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F20DC06-3387-5D8D-08B5-029BFB4512C5}"/>
              </a:ext>
            </a:extLst>
          </p:cNvPr>
          <p:cNvSpPr txBox="1"/>
          <p:nvPr/>
        </p:nvSpPr>
        <p:spPr>
          <a:xfrm>
            <a:off x="5207000" y="2082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ちょっと、ひそかに、正直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71DFFC1-1810-9EE8-E4E7-272BF2B804EF}"/>
              </a:ext>
            </a:extLst>
          </p:cNvPr>
          <p:cNvSpPr/>
          <p:nvPr/>
        </p:nvSpPr>
        <p:spPr>
          <a:xfrm>
            <a:off x="7327900" y="13716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BEAFD0B7-9919-3AFC-22A7-4153F71ED649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300" y="1524000"/>
            <a:ext cx="431800" cy="431800"/>
          </a:xfrm>
          <a:prstGeom prst="rect">
            <a:avLst/>
          </a:prstGeom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885F9DD-ADBE-5EB8-BE5F-6E1BA5E4C579}"/>
              </a:ext>
            </a:extLst>
          </p:cNvPr>
          <p:cNvSpPr txBox="1"/>
          <p:nvPr/>
        </p:nvSpPr>
        <p:spPr>
          <a:xfrm>
            <a:off x="8013700" y="1600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It slaps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26EEF9E-0249-CDDC-2484-DBA01F0E04F3}"/>
              </a:ext>
            </a:extLst>
          </p:cNvPr>
          <p:cNvSpPr txBox="1"/>
          <p:nvPr/>
        </p:nvSpPr>
        <p:spPr>
          <a:xfrm>
            <a:off x="7480300" y="2082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最高、めちゃくちゃいい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D683775-3D27-F1B4-5A48-5E60FD32AA4F}"/>
              </a:ext>
            </a:extLst>
          </p:cNvPr>
          <p:cNvSpPr/>
          <p:nvPr/>
        </p:nvSpPr>
        <p:spPr>
          <a:xfrm>
            <a:off x="9601200" y="13716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02594B24-7649-E730-6894-1805FB64A5A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1524000"/>
            <a:ext cx="431800" cy="431800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F04134E-45D0-1A83-76C0-DF2C31D79F18}"/>
              </a:ext>
            </a:extLst>
          </p:cNvPr>
          <p:cNvSpPr txBox="1"/>
          <p:nvPr/>
        </p:nvSpPr>
        <p:spPr>
          <a:xfrm>
            <a:off x="10287000" y="16002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I'm dead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4BF375B-4D62-6212-42E1-043C26F7BFA7}"/>
              </a:ext>
            </a:extLst>
          </p:cNvPr>
          <p:cNvSpPr txBox="1"/>
          <p:nvPr/>
        </p:nvSpPr>
        <p:spPr>
          <a:xfrm>
            <a:off x="9753600" y="20828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ウケる、笑いすぎて死ぬ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FC76DDE7-2EF3-7BC9-0B1B-65634F7066BA}"/>
              </a:ext>
            </a:extLst>
          </p:cNvPr>
          <p:cNvSpPr/>
          <p:nvPr/>
        </p:nvSpPr>
        <p:spPr>
          <a:xfrm>
            <a:off x="508000" y="27940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CE7328E4-6DC0-7062-3B96-34A25F173156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2946400"/>
            <a:ext cx="431800" cy="431800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FEA5057-C52F-C711-269B-A2D56ACAF87E}"/>
              </a:ext>
            </a:extLst>
          </p:cNvPr>
          <p:cNvSpPr txBox="1"/>
          <p:nvPr/>
        </p:nvSpPr>
        <p:spPr>
          <a:xfrm>
            <a:off x="1193800" y="30226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Ghost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2CC6549-8E13-9E50-F585-072479BE861D}"/>
              </a:ext>
            </a:extLst>
          </p:cNvPr>
          <p:cNvSpPr txBox="1"/>
          <p:nvPr/>
        </p:nvSpPr>
        <p:spPr>
          <a:xfrm>
            <a:off x="660400" y="3505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急に連絡を絶つ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EC658C2B-FF7E-0303-1BF9-40AE0733D4C0}"/>
              </a:ext>
            </a:extLst>
          </p:cNvPr>
          <p:cNvSpPr/>
          <p:nvPr/>
        </p:nvSpPr>
        <p:spPr>
          <a:xfrm>
            <a:off x="2781300" y="27940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0C75EC4C-CCBA-A489-05AF-AE950F51AF75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2946400"/>
            <a:ext cx="431800" cy="431800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64299D8-151F-1AD1-35E4-FEF00DAFC521}"/>
              </a:ext>
            </a:extLst>
          </p:cNvPr>
          <p:cNvSpPr txBox="1"/>
          <p:nvPr/>
        </p:nvSpPr>
        <p:spPr>
          <a:xfrm>
            <a:off x="3467100" y="30226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Salty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B22234C-D72F-947A-D1CB-41EE4809E3BC}"/>
              </a:ext>
            </a:extLst>
          </p:cNvPr>
          <p:cNvSpPr txBox="1"/>
          <p:nvPr/>
        </p:nvSpPr>
        <p:spPr>
          <a:xfrm>
            <a:off x="2933700" y="3505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すねている、根に持っている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313FE9E5-8C96-FB00-A938-D24C1F372BF5}"/>
              </a:ext>
            </a:extLst>
          </p:cNvPr>
          <p:cNvSpPr/>
          <p:nvPr/>
        </p:nvSpPr>
        <p:spPr>
          <a:xfrm>
            <a:off x="5054600" y="27940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BF633650-812D-E487-7A3D-9730B338A84A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000" y="2946400"/>
            <a:ext cx="431800" cy="431800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EAC4C60-684B-ECE2-5AC6-87C6FB8214C8}"/>
              </a:ext>
            </a:extLst>
          </p:cNvPr>
          <p:cNvSpPr txBox="1"/>
          <p:nvPr/>
        </p:nvSpPr>
        <p:spPr>
          <a:xfrm>
            <a:off x="5740400" y="30226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Rent-free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6DC8AEC-64C9-D99B-B953-36B59AE99C50}"/>
              </a:ext>
            </a:extLst>
          </p:cNvPr>
          <p:cNvSpPr txBox="1"/>
          <p:nvPr/>
        </p:nvSpPr>
        <p:spPr>
          <a:xfrm>
            <a:off x="5207000" y="3505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頭から離れない</a:t>
            </a:r>
          </a:p>
        </p:txBody>
      </p:sp>
      <p:sp>
        <p:nvSpPr>
          <p:cNvPr id="44" name="四角形: 角を丸くする 43">
            <a:extLst>
              <a:ext uri="{FF2B5EF4-FFF2-40B4-BE49-F238E27FC236}">
                <a16:creationId xmlns:a16="http://schemas.microsoft.com/office/drawing/2014/main" id="{84C7AEF1-5648-EC25-7444-9DDC82BA7997}"/>
              </a:ext>
            </a:extLst>
          </p:cNvPr>
          <p:cNvSpPr/>
          <p:nvPr/>
        </p:nvSpPr>
        <p:spPr>
          <a:xfrm>
            <a:off x="7327900" y="27940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6" name="図 45">
            <a:extLst>
              <a:ext uri="{FF2B5EF4-FFF2-40B4-BE49-F238E27FC236}">
                <a16:creationId xmlns:a16="http://schemas.microsoft.com/office/drawing/2014/main" id="{F443F581-A8AA-955A-981D-791789F047C0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300" y="2946400"/>
            <a:ext cx="431800" cy="431800"/>
          </a:xfrm>
          <a:prstGeom prst="rect">
            <a:avLst/>
          </a:prstGeom>
        </p:spPr>
      </p:pic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906732C-DB0E-A92A-0F77-1EC1C05E5C0E}"/>
              </a:ext>
            </a:extLst>
          </p:cNvPr>
          <p:cNvSpPr txBox="1"/>
          <p:nvPr/>
        </p:nvSpPr>
        <p:spPr>
          <a:xfrm>
            <a:off x="8013700" y="30226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Hits different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6583C95E-EE09-1A3C-FF79-6204D1533580}"/>
              </a:ext>
            </a:extLst>
          </p:cNvPr>
          <p:cNvSpPr txBox="1"/>
          <p:nvPr/>
        </p:nvSpPr>
        <p:spPr>
          <a:xfrm>
            <a:off x="7480300" y="3505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格別に感じる、妙に刺さる</a:t>
            </a: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98B967AE-4475-25BD-2A21-5C6FF9D61CCE}"/>
              </a:ext>
            </a:extLst>
          </p:cNvPr>
          <p:cNvSpPr/>
          <p:nvPr/>
        </p:nvSpPr>
        <p:spPr>
          <a:xfrm>
            <a:off x="9601200" y="2794000"/>
            <a:ext cx="2082800" cy="1270000"/>
          </a:xfrm>
          <a:prstGeom prst="roundRect">
            <a:avLst>
              <a:gd name="adj" fmla="val 10000"/>
            </a:avLst>
          </a:prstGeom>
          <a:solidFill>
            <a:srgbClr val="3E2A8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07448FB9-EC99-613F-A3F9-CF7665C410E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2946400"/>
            <a:ext cx="431800" cy="431800"/>
          </a:xfrm>
          <a:prstGeom prst="rect">
            <a:avLst/>
          </a:prstGeom>
        </p:spPr>
      </p:pic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B6A255B-A424-C82C-49A0-DAB55BFA1E63}"/>
              </a:ext>
            </a:extLst>
          </p:cNvPr>
          <p:cNvSpPr txBox="1"/>
          <p:nvPr/>
        </p:nvSpPr>
        <p:spPr>
          <a:xfrm>
            <a:off x="10287000" y="30226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5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Touch grass</a:t>
            </a:r>
            <a:endParaRPr kumimoji="1" lang="ja-JP" altLang="en-US" sz="135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B656899-5442-F67A-46C2-3E3E33DE32E4}"/>
              </a:ext>
            </a:extLst>
          </p:cNvPr>
          <p:cNvSpPr txBox="1"/>
          <p:nvPr/>
        </p:nvSpPr>
        <p:spPr>
          <a:xfrm>
            <a:off x="9753600" y="3505200"/>
            <a:ext cx="182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1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ネットから離れて外に出なよ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5A7F73A9-B50A-1016-1F8E-9EA229BD3F80}"/>
              </a:ext>
            </a:extLst>
          </p:cNvPr>
          <p:cNvSpPr/>
          <p:nvPr/>
        </p:nvSpPr>
        <p:spPr>
          <a:xfrm>
            <a:off x="508000" y="4368800"/>
            <a:ext cx="36068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楕円 54">
            <a:extLst>
              <a:ext uri="{FF2B5EF4-FFF2-40B4-BE49-F238E27FC236}">
                <a16:creationId xmlns:a16="http://schemas.microsoft.com/office/drawing/2014/main" id="{1D150D31-1FCB-3BB8-0C29-F2D818AB9EF7}"/>
              </a:ext>
            </a:extLst>
          </p:cNvPr>
          <p:cNvSpPr/>
          <p:nvPr/>
        </p:nvSpPr>
        <p:spPr>
          <a:xfrm>
            <a:off x="711200" y="45720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</a:t>
            </a:r>
            <a:endParaRPr kumimoji="1" lang="ja-JP" altLang="en-US" sz="13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F523B9-4DC1-D2A2-42F0-43340919AA35}"/>
              </a:ext>
            </a:extLst>
          </p:cNvPr>
          <p:cNvSpPr txBox="1"/>
          <p:nvPr/>
        </p:nvSpPr>
        <p:spPr>
          <a:xfrm>
            <a:off x="1219200" y="46228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友人・</a:t>
            </a:r>
            <a:r>
              <a:rPr kumimoji="1" lang="en-US" altLang="ja-JP" sz="16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SNS</a:t>
            </a:r>
            <a:r>
              <a:rPr kumimoji="1" lang="ja-JP" altLang="en-US" sz="16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向け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38D87A8-0768-F71F-744B-84EBCBA7C35D}"/>
              </a:ext>
            </a:extLst>
          </p:cNvPr>
          <p:cNvSpPr txBox="1"/>
          <p:nvPr/>
        </p:nvSpPr>
        <p:spPr>
          <a:xfrm>
            <a:off x="711200" y="51308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仕事のメールや目上の人との会話では使わない。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79B9FB3-A257-522A-5853-5E9A9451C6CC}"/>
              </a:ext>
            </a:extLst>
          </p:cNvPr>
          <p:cNvSpPr/>
          <p:nvPr/>
        </p:nvSpPr>
        <p:spPr>
          <a:xfrm>
            <a:off x="4292600" y="4368800"/>
            <a:ext cx="36068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B274EBBD-D3F5-5465-85DB-58069EA9C175}"/>
              </a:ext>
            </a:extLst>
          </p:cNvPr>
          <p:cNvSpPr/>
          <p:nvPr/>
        </p:nvSpPr>
        <p:spPr>
          <a:xfrm>
            <a:off x="4495800" y="45720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</a:t>
            </a:r>
            <a:endParaRPr kumimoji="1" lang="ja-JP" altLang="en-US" sz="13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78D3A36-4308-A9EF-6E34-87F066B86649}"/>
              </a:ext>
            </a:extLst>
          </p:cNvPr>
          <p:cNvSpPr txBox="1"/>
          <p:nvPr/>
        </p:nvSpPr>
        <p:spPr>
          <a:xfrm>
            <a:off x="5003800" y="46228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流行り廃りが早い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F8311EDB-4784-8997-450D-98401C49D302}"/>
              </a:ext>
            </a:extLst>
          </p:cNvPr>
          <p:cNvSpPr txBox="1"/>
          <p:nvPr/>
        </p:nvSpPr>
        <p:spPr>
          <a:xfrm>
            <a:off x="4495800" y="51308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数年で古く聞こえることもある。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C4AAF258-CA34-AEEE-D475-82C727042D41}"/>
              </a:ext>
            </a:extLst>
          </p:cNvPr>
          <p:cNvSpPr/>
          <p:nvPr/>
        </p:nvSpPr>
        <p:spPr>
          <a:xfrm>
            <a:off x="8077200" y="4368800"/>
            <a:ext cx="36068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E47C0094-3903-B84F-94E4-0C205DEDD6E7}"/>
              </a:ext>
            </a:extLst>
          </p:cNvPr>
          <p:cNvSpPr/>
          <p:nvPr/>
        </p:nvSpPr>
        <p:spPr>
          <a:xfrm>
            <a:off x="8280400" y="4572000"/>
            <a:ext cx="381000" cy="381000"/>
          </a:xfrm>
          <a:prstGeom prst="ellipse">
            <a:avLst/>
          </a:prstGeom>
          <a:solidFill>
            <a:srgbClr val="FF4F7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1300" b="1">
                <a:solidFill>
                  <a:srgbClr val="FFFFF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</a:t>
            </a:r>
            <a:endParaRPr kumimoji="1" lang="ja-JP" altLang="en-US" sz="1300" b="1">
              <a:solidFill>
                <a:srgbClr val="FFFFF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3388EFF-A113-BBAB-3567-D6BD453FD42E}"/>
              </a:ext>
            </a:extLst>
          </p:cNvPr>
          <p:cNvSpPr txBox="1"/>
          <p:nvPr/>
        </p:nvSpPr>
        <p:spPr>
          <a:xfrm>
            <a:off x="8788400" y="4622800"/>
            <a:ext cx="2743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2D1B69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まずは聞き取りから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59DA3CFD-0DD7-BC04-8023-42A52B05BDA0}"/>
              </a:ext>
            </a:extLst>
          </p:cNvPr>
          <p:cNvSpPr txBox="1"/>
          <p:nvPr/>
        </p:nvSpPr>
        <p:spPr>
          <a:xfrm>
            <a:off x="8280400" y="5130800"/>
            <a:ext cx="320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E1A2E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相手が使ったら真似る、くらいがちょうどいい。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34F6C7D9-C7B0-C0EA-63F0-2CAADC67A230}"/>
              </a:ext>
            </a:extLst>
          </p:cNvPr>
          <p:cNvSpPr txBox="1"/>
          <p:nvPr/>
        </p:nvSpPr>
        <p:spPr>
          <a:xfrm>
            <a:off x="508000" y="6273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イラスト：</a:t>
            </a:r>
            <a:r>
              <a:rPr kumimoji="1" lang="en-US" altLang="ja-JP" sz="8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Microsoft Fluent Emoji</a:t>
            </a:r>
            <a:r>
              <a:rPr kumimoji="1" lang="ja-JP" altLang="en-US" sz="8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（</a:t>
            </a:r>
            <a:r>
              <a:rPr kumimoji="1" lang="en-US" altLang="ja-JP" sz="8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MIT License</a:t>
            </a:r>
            <a:r>
              <a:rPr kumimoji="1" lang="ja-JP" altLang="en-US" sz="800">
                <a:solidFill>
                  <a:srgbClr val="C9C0E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）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A2E5887-25E4-DB43-68B0-03E10F6A4C36}"/>
              </a:ext>
            </a:extLst>
          </p:cNvPr>
          <p:cNvSpPr txBox="1"/>
          <p:nvPr/>
        </p:nvSpPr>
        <p:spPr>
          <a:xfrm>
            <a:off x="10414000" y="65278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800">
                <a:solidFill>
                  <a:srgbClr val="C9C0E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12 / 12</a:t>
            </a:r>
            <a:endParaRPr kumimoji="1" lang="ja-JP" altLang="en-US" sz="800">
              <a:solidFill>
                <a:srgbClr val="C9C0EC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64010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1276</Words>
  <Application>Microsoft Office PowerPoint</Application>
  <PresentationFormat>ユーザー設定</PresentationFormat>
  <Paragraphs>220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8" baseType="lpstr">
      <vt:lpstr>Yu Gothic UI</vt:lpstr>
      <vt:lpstr>游ゴシック</vt:lpstr>
      <vt:lpstr>游ゴシック Light</vt:lpstr>
      <vt:lpstr>Arial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2026-10-07T04:44:38Z</dcterms:created>
  <dcterms:modified xsi:type="dcterms:W3CDTF">2026-10-07T04:44:38Z</dcterms:modified>
</cp:coreProperties>
</file>